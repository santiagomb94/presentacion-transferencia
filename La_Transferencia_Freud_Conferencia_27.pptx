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ESTIMADO: 2 min
APERTURA:
«Buenas tardes a todos y todas. En esta presentación abordaremos una de las conferencias más trascendentales dictadas por Sigmund Freud: la 27ª Conferencia de sus Lecciones Introductorias al Psicoanálisis, titulada 'La Transferencia'. En ella, Freud revela el motor nuclear de la cura y la paradoja clínica que redefine toda la relación terapéutica.»
PUNTOS CLAVE A EXPONER:
• Encuadre histórico: Viena (1916–1917), primer abordaje público de Freud sobre la técnica terapéutica analítica.
• Descubrimiento axial: El paciente no recuerda su pasado reprimido como un archivo histórico; lo actúa en presente sobre el analista.
• La transferencia no es un error de la terapia ni un accidente: es un fenómeno universal de la psique humana puesto al servicio de la cura.
PREGUNTA PARA EL AUDITORIO:
«¿Qué hace que en nuestras relaciones más significativas tendamos a reactivar vivencias tempranas de las que ni siquiera somos conscientes?»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ESTIMADO: 3-4 min
APERTURA:
«Pasemos al primer concepto central de nuestro resumen. ¿Qué es con exactitud la transferencia y cuál es su función en el dispositivo analítico?»
PUNTOS CLAVE A EXPONER:
• Definición precisa: El paciente proyecta sobre el médico sentimientos vinculados con relaciones anteriores de su pasado reprimido.
• Doble carácter: Puede impulsar poderosamente el tratamiento o convertirse en la mayor resistencia interna.
• El escenario analítico: El consultorio se convierte en el teatro donde los conflictos inconscientes cobran vida para ser analizados.
• Objetivo supremo de Freud: Mudar la repetición inconsciente en recuerdo consciente y elaborado.
PREGUNTA PARA EL AUDITORIO:
«¿Por qué actuar un conflicto duele menos temporalmente que recordarlo y ponerlo en palabras?»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ESTIMADO: 3-4 min
APERTURA:
«Freud distingue minuciosamente las formas en que la libido se manifiesta en la sesión. No toda transferencia opera de la misma manera.»
PUNTOS CLAVE A EXPONER:
• 1. Positiva Tierna: Sentimientos de aprecio, confianza y sobrestimación del médico. Es el motor impulsor más poderoso al inicio.
• 2. Positiva Erótica: Reclamos amorosos directos o de índole sexual. Se transforma en severa resistencia por la intensidad de la pulsión.
• 3. Negativa (Hostil): Enojo, desconfianza, desacato y celos. Es resistencia pura y refleja la ambivalencia afectiva reprimida.
• Técnica de superación: No ceder a las demandas ni rechazarlas con indignación moral. Interpretar su origen para convertir la repetición en memoria.
PREGUNTA PARA EL AUDITORIO:
«¿Qué riesgos entrañaría para la cura que un analista corresponda o juzgue moralmente las demandas amorosas u hostiles del paciente?»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ESTIMADO: 3-4 min
APERTURA:
«Freud es sumamente honesto y científico: el psicoanálisis no es una panacea mágica ni promete milagros. Reconoce con rigor en cuáles factores se puede intervenir y en cuáles no.»
PUNTOS CLAVE A EXPONER:
• Neurosis de transferencia (histeria, angustia, obsesiva): La libido está disponible hacia objetos externos, permitiendo el trabajo analítico.
• Neurosis narcisistas (paranoia, melancolía, demencia precoz): La libido está replegada sobre el propio yo; la transferencia se bloquea o es inaccesible.
• Factor I (Disposición hereditaria): Límite constitucional biológico inalterable.
• Factor II (Vivencias infantiles): Pertenecen al pasado consumado; no se pueden borrar los hechos, solo su investidura.
• Factor III (Frustración social y pobreza): El análisis no sustituye la justicia social ni los favores materiales.
• Factor IV (La moral y el goce): La cura no es incitar al libertinaje, sino resolver el conflicto ético entre pulsión y represión.
PREGUNTA PARA EL AUDITORIO:
«¿Por qué reconocer los límites éticos y técnicos de la intervención fortalece la credibilidad y eficacia del terapeuta?»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ESTIMADO: 3 min
APERTURA:
«Llegamos a uno de los hallazgos técnicos más reveladores: ¿por qué el solo hecho de saber intelectualmente la causa del trauma no cura al paciente?»
PUNTOS CLAVE A EXPONER:
• La resistencia es la fuerza viva del Yo que se opone a que lo reprimido acceda a la conciencia.
• La represión expulsa y mantiene fuera del consciente los deseos conflictivos primordiales.
• La ilusión intelectual desmentida: Comunicar teóricamente la causa del síntoma deja la represión intacta; el síntoma persiste.
• La labor del analista consiste en vencer las resistencias paso a paso para que el paciente asimile la verdad emocional.
PREGUNTA PARA EL AUDITORIO:
«¿Qué diferencia existe entre un conocimiento meramente intelectual y una toma de conciencia vivencial y transformadora?»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ESTIMADO: 4-5 min
APERTURA:
«Para finalizar nuestra exposición e invitar a la participación de la clase y el docente, planteamos cuatro interrogantes esenciales para el debate.»
PUNTOS CLAVE A EXPONER:
• Pregunta 1: La universalidad de la transferencia en relaciones de pareja, laborales o pedagógicas.
• Pregunta 2: El criterio clínico para discernir sentimientos genuinos de transferenciales.
• Pregunta 3: La influencia del vínculo afectivo en la eficacia terapéutica.
• Pregunta 4: Las consecuencias éticas de abandonar la posición de neutralidad y abstinencia.
PREGUNTA PARA EL AUDITORIO:
«Invitar al público a elegir una de las 4 preguntas para iniciar la ronda de intervenciones.»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ESTIMADO: 1-2 min
APERTURA:
«En síntesis, la transferencia nos enseña que el ser humano no está condenado a repetir ciegamente su pasado si encuentra un espacio ético donde ponerlo en palabras y elaborarlo. ¡Muchas gracias por su atención!»
PUNTOS CLAVE A EXPONER:
• La transferencia es la mayor resistencia convertida en el instrumento supremo de curación.
• La ética psicoanalítica radica en la abstinencia y el respeto al sujeto.
• Recordar para no repetir: meta central del proceso analítico.
PREGUNTA PARA EL AUDITORIO:
«¿Alguna duda o reflexión final antes de concluir?»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4389120" cy="320040"/>
          </a:xfrm>
          <a:prstGeom prst="roundRect">
            <a:avLst>
              <a:gd name="adj" fmla="val 42857"/>
            </a:avLst>
          </a:prstGeom>
          <a:solidFill>
            <a:srgbClr val="FDEEF3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2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PSICOANÁLISIS · CONFERENCIA 27 · SIGMUND FREUD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Transferencia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24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resistencia más temible al instrumento soberano de la curación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6949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23160"/>
            <a:ext cx="91440" cy="1234440"/>
          </a:xfrm>
          <a:prstGeom prst="rect">
            <a:avLst/>
          </a:prstGeom>
          <a:solidFill>
            <a:srgbClr val="B83A64"/>
          </a:solidFill>
          <a:ln w="12700">
            <a:solidFill>
              <a:srgbClr val="B83A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1460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LA EXPOSICIÓN (Viena, 1916–1917)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513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Freud devela el corazón de la terapia analítica: el paciente no recuerda sus traumas de la infancia en palabras neutras, sino que los revive y actúa en vivo sobre la persona del analista. Comprender esta fuerza permite transformar la repetición inconsciente en recuerdo consciente.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0233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434340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Fenómeno Clínico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48920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afectos del pasado reviven en la relación con el médico.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38862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40233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434340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y Superación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24328" y="48920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Tierna, erótica y hostil: la regla de abstinencia analítica.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38862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40233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07408" y="434340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Límites Terapéuticos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07408" y="48920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Neurosis transferenciales vs. narcisistas y 4 condicionantes.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3886200"/>
            <a:ext cx="1645920" cy="21488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40233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0488" y="434340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Resistencia y Debate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4892040"/>
            <a:ext cx="14264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trabajo dinámico contra la represión y preguntas grupales.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01000" y="594360"/>
            <a:ext cx="3429000" cy="54406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8CC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868680"/>
            <a:ext cx="2880360" cy="365760"/>
          </a:xfrm>
          <a:prstGeom prst="roundRect">
            <a:avLst>
              <a:gd name="adj" fmla="val 37500"/>
            </a:avLst>
          </a:prstGeom>
          <a:solidFill>
            <a:srgbClr val="FDEEF3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868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72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COMPLETAS · TOMO XVI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001000" y="1417320"/>
            <a:ext cx="3429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B83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275320" y="224028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Sigmund Freud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(1856–1939)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75320" y="29718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Lecciones de Introducción al Psicoanálisis (1916–1917)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778240" y="3520440"/>
            <a:ext cx="1874520" cy="45720"/>
          </a:xfrm>
          <a:prstGeom prst="rect">
            <a:avLst/>
          </a:prstGeom>
          <a:solidFill>
            <a:srgbClr val="FDEEF3"/>
          </a:solidFill>
          <a:ln w="12700">
            <a:solidFill>
              <a:srgbClr val="FDEE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37947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723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«En la terapia reside toda la posibilidad de cultivar el psicoanálisis»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723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(pág. 392)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66760" y="489204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FDEEF3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50292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EXPOSICIÓN UNIVERSITARIA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Psicología · Psicoanálisis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DIAPOSITIVA 01 · CONFERENCIA 27 (PÁGS. 392–395)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Transferencia y su Papel en la Terapia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24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motor de la cura y la reproducción viva del pasado reprimido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91440" cy="1051560"/>
          </a:xfrm>
          <a:prstGeom prst="rect">
            <a:avLst/>
          </a:prstGeom>
          <a:solidFill>
            <a:srgbClr val="B83A64"/>
          </a:solidFill>
          <a:ln w="12700">
            <a:solidFill>
              <a:srgbClr val="B83A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FUNDAMENTAL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«La transferencia ocurre cuando el paciente dirige hacia el médico sentimientos vinculados con experiencias y relaciones anteriores que hacen parte de su pasado reprimido.»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33832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17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  NATURALEZA DUAL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o Resistencia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transferencia puede favorecer el tratamiento prestando autoridad al terapeuta, o convertirse en una resistencia tenaz dependiendo de cómo se manifieste en la relación.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880360"/>
            <a:ext cx="33832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017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 ESCENARIO VIVO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Reproducción de Conflictos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37490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través de la transferencia, los conflictos inconscientes se reproducen en la relación terapéutica. El consultorio se convierte en el campo vivo donde pueden ser analizados.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2880360"/>
            <a:ext cx="338328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017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META CLÍNICA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229600" y="3291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Repetición en Recuerdo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0" y="37490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es transformar la repetición inconsciente en recuerdo consciente. Así, el paciente puede comprender, elaborar sus conflictos y ganar autonomía psíquica.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FDEEF3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723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FÓRMULA TERAPÉUTICA:   Pasado Reprimido   ➔   Repetición en Acto (Transferencia)   ➔   Recuerdo Consciente y Elaboración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DIAPOSITIVA 02 · CONFERENCIA 27 (PÁGS. 399–403)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Transferencia y su Superación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24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Manifestaciones de la investidura afectiva y la regla técnica de la abstinencia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698480" cy="2057400"/>
        </p:xfrm>
        <a:graphic>
          <a:graphicData uri="http://schemas.openxmlformats.org/drawingml/2006/table">
            <a:tbl>
              <a:tblPr/>
              <a:tblGrid>
                <a:gridCol w="2560320"/>
                <a:gridCol w="4069080"/>
                <a:gridCol w="406908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7234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Tipo de Transferencia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7234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Manifestación en Sesión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72346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Impacto en la Cura</a:t>
                      </a:r>
                      <a:endParaRPr lang="en-US" sz="10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3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12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Positiva Tierna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12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(Sublimada)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Sentimientos de aprecio, confianza ciega y sobrestimación del médico.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A79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Funciona inicialmente como el motor impulsor más poderoso del trabajo analítico.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12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Positiva Erótica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12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(Cruda)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Reclamos amorosos directos o de índole sexual dirigidos al terapeuta.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83A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transforma en una resistencia interna debido a la intensidad del deseo.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12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Negativa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A122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(Hostil)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Sentimientos de enojo, desconfianza, desacato o celos hacia el médico.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BD5B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manifiesta como resistencia. Refleja la ambivalencia afectiva del paciente.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931920"/>
            <a:ext cx="10698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3931920"/>
            <a:ext cx="91440" cy="2103120"/>
          </a:xfrm>
          <a:prstGeom prst="rect">
            <a:avLst/>
          </a:prstGeom>
          <a:solidFill>
            <a:srgbClr val="B83A64"/>
          </a:solidFill>
          <a:ln w="12700">
            <a:solidFill>
              <a:srgbClr val="B83A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4069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SUPERACIÓN DE LA TRANSFERENCIA: LA REGLA DE ORO DE FREUD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0584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72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DEBE HACER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05840" y="46634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513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 debe ceder a las demandas amorosas del paciente ni rechazarlas con indignación moral o molestia personal.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48056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72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QUÉ CONSISTE LA SUPERACIÓN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480560" y="46634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513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Demostrarle que esos sentimientos no pertenecen a la relación actual ni al terapeuta, sino que son repeticiones de vivencias anteriores.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95528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72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 TERAPÉUTICO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55280" y="46634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513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este modo, se fuerza al paciente a mudar la repetición en recuerdo, conquistando soberanía y autoconocimiento.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DIAPOSITIVA 03 · CONFERENCIA 27 (PÁGS. 392–395, 404–406)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Factores Determinantes y Límites de la Terapia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24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hay espacio legítimo para intervenir según la distribución de la libido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7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🗝️  TERRENO OPERABLE · HISTERIA, ANGUSTIA, OBSESIVA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Neurosis de Transferencia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Permiten el trabajo transferencial y la nueva configuración de los conflictos dentro del tratamiento. La libido está orientada al exterior hacia objetos sustitutivos.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D5B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🪞  LÍMITE CLÍNICO · PARANOIA, MELANCOLÍA, DEMENCIA PRECOZ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Neurosis Narcisistas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Afecciones en las que predomina la libido dirigida hacia el propio Yo. Al no proyectar investiduras afectivas sobre el médico, se dificulta o imposibilita el establecimiento de la transferencia.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337560"/>
            <a:ext cx="10698480" cy="411480"/>
          </a:xfrm>
          <a:prstGeom prst="rect">
            <a:avLst/>
          </a:prstGeom>
          <a:solidFill>
            <a:srgbClr val="FDEEF3"/>
          </a:solidFill>
          <a:ln w="6350">
            <a:solidFill>
              <a:srgbClr val="E8C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2900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psicoanálisis determina claramente en cuáles factores del origen de la neurosis se puede intervenir y en cuáles no: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33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FACTOR CONSTITUCIONAL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68680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Disposición Hereditaria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límite biológico e innato del sujeto. Freud constata con realismo que ninguna intervención psicológica puede alterar la carga hereditaria.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56432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40233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DETERMINISMO HISTÓRICO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593592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Vivencias Infantiles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93592" y="4754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huellas mnémicas tempranas son los cimientos del síntoma. Pertenecen al pasado consumado: ningún tratamiento puede retroceder en el tiempo.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81344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8504" y="40233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REALIDAD EXTERNA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318504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Frustración y Pobreza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8504" y="4754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Desamparo material y miseria. Los médicos no son el emperador José II repartiendo favores; el psicoanálisis no es beneficencia social.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906256" y="388620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43416" y="402336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PREJUICIO DESMENTIDO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043416" y="42976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Moral y el «Goce»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43416" y="475488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Freud refuta el reproche de incitar al libertinaje. En el neurótico se libra una batalla entre pulsión y represión; el desenfreno no cura el conflicto.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DIAPOSITIVA 04 · CONFERENCIA 27 (PÁGS. 395–398)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Rol de la Resistencia y la Represión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24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fuerzas que custodian el síntoma y la insuficiencia de la sola comprensión intelectual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91440" cy="2057400"/>
          </a:xfrm>
          <a:prstGeom prst="rect">
            <a:avLst/>
          </a:prstGeom>
          <a:solidFill>
            <a:srgbClr val="B83A64"/>
          </a:solidFill>
          <a:ln w="12700">
            <a:solidFill>
              <a:srgbClr val="B83A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EN EL PRESENTE TERAPÉUTICO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Resistencia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8723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«Es la fuerza que se opone activamente a que los contenidos reprimidos lleguen a hacerse conscientes durante la terapia.»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Obstáculo directo: dificulta que deseos y recuerdos reprimidos alcancen la conciencia.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Aliada del Yo defensivo: prefiere el sufrimiento conocido al cambio psíquico.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Manifestación: bloqueos asociativos, silencios o desacato transferencial.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91640"/>
            <a:ext cx="91440" cy="2057400"/>
          </a:xfrm>
          <a:prstGeom prst="rect">
            <a:avLst/>
          </a:prstGeom>
          <a:solidFill>
            <a:srgbClr val="764A8C"/>
          </a:solidFill>
          <a:ln w="12700">
            <a:solidFill>
              <a:srgbClr val="764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830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6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EL MECANISMO ORIGINARIO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Represión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764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«Mantiene fuera de la conciencia determinados deseos o representaciones que generan conflicto inasumible.»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2880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Génesis: expulsó en la temprana infancia mociones intolerables para el Yo.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 reprimido pulsa en lo inconsciente y busca satisfacción sustitutiva en síntomas.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 represión fundó el síntoma; la resistencia vela por mantenerlo oculto.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1069848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886200"/>
            <a:ext cx="91440" cy="1463040"/>
          </a:xfrm>
          <a:prstGeom prst="rect">
            <a:avLst/>
          </a:prstGeom>
          <a:solidFill>
            <a:srgbClr val="B83A64"/>
          </a:solidFill>
          <a:ln w="12700">
            <a:solidFill>
              <a:srgbClr val="B83A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9776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PRINCIPIO TÉCNICO DECISIVO: LA INSUFICIENCIA DEL SABER INTELECTUAL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" y="42519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«Comprender intelectualmente un conflicto no es suficiente: es necesario trabajar las resistencias que lo mantienen.»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663440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513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Freud advierte que comunicar al paciente la interpretación teórica de su trauma no disuelve el síntoma. El sujeto acumula la explicación en su intelecto mientras la represión y la angustia continúan intactas. Solo al vivenciar y desarticular la resistencia dentro de la transferencia acontece la cura.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5486400"/>
            <a:ext cx="10698480" cy="594360"/>
          </a:xfrm>
          <a:prstGeom prst="roundRect">
            <a:avLst>
              <a:gd name="adj" fmla="val 15385"/>
            </a:avLst>
          </a:prstGeom>
          <a:solidFill>
            <a:srgbClr val="FDEEF3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65099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723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Conflicto Reprimido   ➔   2. Resistencia Activa en Sesión   ➔   3. Trabajo Elaborativo   ➔   4. Consciencia y Emancipación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DIAPOSITIVA 05 · MESA REDONDA &amp; COLOQUIO ABIERTO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Preguntas de Debate y Reflexión Clínica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24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dilemas freudianos para el diálogo con el auditorio y el docente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ÁMBITO COTIDIANO VS. CLÍNICO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¿La transferencia ocurre únicamente durante una terapia o también puede aparecer en relaciones cotidianas con profesores, jefes o parejas?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4846320" cy="36576"/>
          </a:xfrm>
          <a:prstGeom prst="rect">
            <a:avLst/>
          </a:prstGeom>
          <a:solidFill>
            <a:srgbClr val="FDEEF3"/>
          </a:solidFill>
          <a:ln w="12700">
            <a:solidFill>
              <a:srgbClr val="FDEE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freudianas: Es un fenómeno humano universal. Solo en análisis se aísla, se interpreta y no se actúa, poniéndola al servicio de la cura.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CRITERIO DIAGNÓSTICO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podría distinguirse entre un sentimiento genuino hacia el terapeuta y uno influido por la transferencia?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926080"/>
            <a:ext cx="4846320" cy="36576"/>
          </a:xfrm>
          <a:prstGeom prst="rect">
            <a:avLst/>
          </a:prstGeom>
          <a:solidFill>
            <a:srgbClr val="FDEEF3"/>
          </a:solidFill>
          <a:ln w="12700">
            <a:solidFill>
              <a:srgbClr val="FD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017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freudianas: La desmesura, la ceguera a la realidad objetiva y la inadecuación temporal evidencian que se trata de un libreto infantil proyectado.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233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EFICACIA TERAPÉUTICA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14400" y="42976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¿Hasta qué punto la relación afectiva entre terapeuta y paciente influye en la eficacia de una intervención psicológica?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" y="5120640"/>
            <a:ext cx="4846320" cy="36576"/>
          </a:xfrm>
          <a:prstGeom prst="rect">
            <a:avLst/>
          </a:prstGeom>
          <a:solidFill>
            <a:srgbClr val="FDEEF3"/>
          </a:solidFill>
          <a:ln w="12700">
            <a:solidFill>
              <a:srgbClr val="FDEE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freudianas: La transferencia tierna sublimada otorga la autoridad para que las interpretaciones sean asimiladas; sin alianza afectiva no hay escucha.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212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0233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DEONTOLOGÍA Y ÉTICA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00800" y="42976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riesgos éticos podrían aparecer si un terapeuta responde afectivamente a las demandas transferenciales de un paciente?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0" y="5120640"/>
            <a:ext cx="4846320" cy="36576"/>
          </a:xfrm>
          <a:prstGeom prst="rect">
            <a:avLst/>
          </a:prstGeom>
          <a:solidFill>
            <a:srgbClr val="FDEEF3"/>
          </a:solidFill>
          <a:ln w="12700">
            <a:solidFill>
              <a:srgbClr val="FD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52120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freudianas: Supone el abuso de poder y la destrucción del encuadre. La abstinencia es el único escudo ético que garantiza la libertad del sujeto.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3A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DIAPOSITIVA 06 · SÍNTESIS MAGISTRAL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y Mensaje Final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24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cuatro pilares de la 27ª Conferencia y el legado contemporáneo del psicoanálisis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Paradoja Clínica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transferencia surge como la mayor resistencia pero deviene en el instrumento soberano de curación.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56432" y="16916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9312" y="1828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9312" y="2148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Repetición en Recuerdo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39312" y="26060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sujeto actúa lo que reprimió. La labor analítica pone palabras donde antes solo había actuación y síntoma.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81344" y="16916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828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2148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Honestidad Científica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64224" y="26060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Reconoce los límites constitucionales y materiales, concentrándose en la conquista de la verdad subjetiva.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06256" y="1691640"/>
            <a:ext cx="25146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9136" y="1828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3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89136" y="2148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Ética de la Abstinencia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89136" y="260604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51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satisfacer la demanda amorosa ni la hostilidad para garantizar la autonomía y emancipación del Yo.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977640"/>
            <a:ext cx="10698480" cy="2103120"/>
          </a:xfrm>
          <a:prstGeom prst="roundRect">
            <a:avLst>
              <a:gd name="adj" fmla="val 6522"/>
            </a:avLst>
          </a:prstGeom>
          <a:solidFill>
            <a:srgbClr val="FDEEF3"/>
          </a:solidFill>
          <a:ln w="12700">
            <a:solidFill>
              <a:srgbClr val="E8CC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43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1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¡Muchas gracias por su atención!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723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«Donde Ello era, el Yo debe advenir» — Sigmund Freud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24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abierto para preguntas, reflexiones y comentarios de la clase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Facultad de Psicología · Psicoanálisis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Transferencia - 27ª Conferencia (Sigmund Freud)</dc:title>
  <dc:subject>Teoría y Técnica Psicoanalítica · Obras Completas Tomo XVI</dc:subject>
  <dc:creator>Sigmund Freud / Exposición Universitaria</dc:creator>
  <cp:lastModifiedBy>Sigmund Freud / Exposición Universitaria</cp:lastModifiedBy>
  <cp:revision>1</cp:revision>
  <dcterms:created xsi:type="dcterms:W3CDTF">2026-10-18T23:36:46Z</dcterms:created>
  <dcterms:modified xsi:type="dcterms:W3CDTF">2026-10-18T23:36:46Z</dcterms:modified>
</cp:coreProperties>
</file>